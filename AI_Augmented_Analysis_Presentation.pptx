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9B2C46-810C-43FD-8345-B3E04528810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0712682-840A-4220-865E-BBC0F737FA66}">
      <dgm:prSet/>
      <dgm:spPr/>
      <dgm:t>
        <a:bodyPr/>
        <a:lstStyle/>
        <a:p>
          <a:pPr>
            <a:defRPr cap="all"/>
          </a:pPr>
          <a:r>
            <a:rPr lang="en-US"/>
            <a:t>- Total Revenue: $4,839,425.16</a:t>
          </a:r>
        </a:p>
      </dgm:t>
    </dgm:pt>
    <dgm:pt modelId="{9AC21C42-0D00-4BC4-B4B2-B4F6527B82E3}" type="parTrans" cxnId="{AE6E7782-570C-428F-B807-4A244E128CEE}">
      <dgm:prSet/>
      <dgm:spPr/>
      <dgm:t>
        <a:bodyPr/>
        <a:lstStyle/>
        <a:p>
          <a:endParaRPr lang="en-US"/>
        </a:p>
      </dgm:t>
    </dgm:pt>
    <dgm:pt modelId="{9F65B317-1001-4AD1-A9F7-72DCB70BB7DB}" type="sibTrans" cxnId="{AE6E7782-570C-428F-B807-4A244E128CEE}">
      <dgm:prSet/>
      <dgm:spPr/>
      <dgm:t>
        <a:bodyPr/>
        <a:lstStyle/>
        <a:p>
          <a:endParaRPr lang="en-US"/>
        </a:p>
      </dgm:t>
    </dgm:pt>
    <dgm:pt modelId="{FC40AB39-1DB8-4DED-B5CC-C45D1BB5E58A}">
      <dgm:prSet/>
      <dgm:spPr/>
      <dgm:t>
        <a:bodyPr/>
        <a:lstStyle/>
        <a:p>
          <a:pPr>
            <a:defRPr cap="all"/>
          </a:pPr>
          <a:r>
            <a:rPr lang="en-US"/>
            <a:t>- Total Orders: 8,042</a:t>
          </a:r>
        </a:p>
      </dgm:t>
    </dgm:pt>
    <dgm:pt modelId="{F2839003-0C37-49AF-9F1C-3107F48EE616}" type="parTrans" cxnId="{38F79C66-F76F-4027-BB19-07301B2E2DEF}">
      <dgm:prSet/>
      <dgm:spPr/>
      <dgm:t>
        <a:bodyPr/>
        <a:lstStyle/>
        <a:p>
          <a:endParaRPr lang="en-US"/>
        </a:p>
      </dgm:t>
    </dgm:pt>
    <dgm:pt modelId="{0A391432-7770-438B-91EA-8D15859576D9}" type="sibTrans" cxnId="{38F79C66-F76F-4027-BB19-07301B2E2DEF}">
      <dgm:prSet/>
      <dgm:spPr/>
      <dgm:t>
        <a:bodyPr/>
        <a:lstStyle/>
        <a:p>
          <a:endParaRPr lang="en-US"/>
        </a:p>
      </dgm:t>
    </dgm:pt>
    <dgm:pt modelId="{21B4DF14-DDE9-45AC-9B84-1D70D9E0DD84}">
      <dgm:prSet/>
      <dgm:spPr/>
      <dgm:t>
        <a:bodyPr/>
        <a:lstStyle/>
        <a:p>
          <a:pPr>
            <a:defRPr cap="all"/>
          </a:pPr>
          <a:r>
            <a:rPr lang="en-US"/>
            <a:t>- Top Performing Category: Electronics ($1.93M Revenue)</a:t>
          </a:r>
        </a:p>
      </dgm:t>
    </dgm:pt>
    <dgm:pt modelId="{24CC63B6-3585-4F56-8D3F-EC5AA7E87181}" type="parTrans" cxnId="{6CFB8E86-853D-4D15-A1DE-511CCA4A4C3B}">
      <dgm:prSet/>
      <dgm:spPr/>
      <dgm:t>
        <a:bodyPr/>
        <a:lstStyle/>
        <a:p>
          <a:endParaRPr lang="en-US"/>
        </a:p>
      </dgm:t>
    </dgm:pt>
    <dgm:pt modelId="{A4C3C206-4F9D-4A38-B59C-38D2658EE026}" type="sibTrans" cxnId="{6CFB8E86-853D-4D15-A1DE-511CCA4A4C3B}">
      <dgm:prSet/>
      <dgm:spPr/>
      <dgm:t>
        <a:bodyPr/>
        <a:lstStyle/>
        <a:p>
          <a:endParaRPr lang="en-US"/>
        </a:p>
      </dgm:t>
    </dgm:pt>
    <dgm:pt modelId="{0705E08A-B5C9-4CA0-A2C8-8B7272DF1BAE}">
      <dgm:prSet/>
      <dgm:spPr/>
      <dgm:t>
        <a:bodyPr/>
        <a:lstStyle/>
        <a:p>
          <a:pPr>
            <a:defRPr cap="all"/>
          </a:pPr>
          <a:r>
            <a:rPr lang="en-US"/>
            <a:t>- Primary Growth Driver: Strategic promotional spikes.</a:t>
          </a:r>
        </a:p>
      </dgm:t>
    </dgm:pt>
    <dgm:pt modelId="{CF931BF1-0F02-41D2-8955-342068BF1684}" type="parTrans" cxnId="{6B4C1FE7-11BD-464B-98F2-901F4AC79308}">
      <dgm:prSet/>
      <dgm:spPr/>
      <dgm:t>
        <a:bodyPr/>
        <a:lstStyle/>
        <a:p>
          <a:endParaRPr lang="en-US"/>
        </a:p>
      </dgm:t>
    </dgm:pt>
    <dgm:pt modelId="{D33BBF1C-DABC-49EA-A2E5-1396A7D33372}" type="sibTrans" cxnId="{6B4C1FE7-11BD-464B-98F2-901F4AC79308}">
      <dgm:prSet/>
      <dgm:spPr/>
      <dgm:t>
        <a:bodyPr/>
        <a:lstStyle/>
        <a:p>
          <a:endParaRPr lang="en-US"/>
        </a:p>
      </dgm:t>
    </dgm:pt>
    <dgm:pt modelId="{04A11A2E-8AAF-4977-AA65-5290EC8A5A2C}" type="pres">
      <dgm:prSet presAssocID="{409B2C46-810C-43FD-8345-B3E045288108}" presName="root" presStyleCnt="0">
        <dgm:presLayoutVars>
          <dgm:dir/>
          <dgm:resizeHandles val="exact"/>
        </dgm:presLayoutVars>
      </dgm:prSet>
      <dgm:spPr/>
    </dgm:pt>
    <dgm:pt modelId="{C94644E0-CC5A-4D43-8BDD-49EC975C3AAB}" type="pres">
      <dgm:prSet presAssocID="{A0712682-840A-4220-865E-BBC0F737FA66}" presName="compNode" presStyleCnt="0"/>
      <dgm:spPr/>
    </dgm:pt>
    <dgm:pt modelId="{AD8A1EC0-85E3-4CCA-BD01-5F69184ADCFE}" type="pres">
      <dgm:prSet presAssocID="{A0712682-840A-4220-865E-BBC0F737FA66}" presName="iconBgRect" presStyleLbl="bgShp" presStyleIdx="0" presStyleCnt="4"/>
      <dgm:spPr/>
    </dgm:pt>
    <dgm:pt modelId="{B1906E1D-1083-4B85-AAE9-78E578F2B477}" type="pres">
      <dgm:prSet presAssocID="{A0712682-840A-4220-865E-BBC0F737FA6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1BEE38A-FD35-451C-AC40-FFCB410D4320}" type="pres">
      <dgm:prSet presAssocID="{A0712682-840A-4220-865E-BBC0F737FA66}" presName="spaceRect" presStyleCnt="0"/>
      <dgm:spPr/>
    </dgm:pt>
    <dgm:pt modelId="{B8EFE088-EB1B-4B56-AAA4-6C48A7823C77}" type="pres">
      <dgm:prSet presAssocID="{A0712682-840A-4220-865E-BBC0F737FA66}" presName="textRect" presStyleLbl="revTx" presStyleIdx="0" presStyleCnt="4">
        <dgm:presLayoutVars>
          <dgm:chMax val="1"/>
          <dgm:chPref val="1"/>
        </dgm:presLayoutVars>
      </dgm:prSet>
      <dgm:spPr/>
    </dgm:pt>
    <dgm:pt modelId="{2B7A3D04-B7F3-4D4F-8FD7-DB40444685B8}" type="pres">
      <dgm:prSet presAssocID="{9F65B317-1001-4AD1-A9F7-72DCB70BB7DB}" presName="sibTrans" presStyleCnt="0"/>
      <dgm:spPr/>
    </dgm:pt>
    <dgm:pt modelId="{C6C5D65B-7766-48A2-8A58-D3FB7BE3EB97}" type="pres">
      <dgm:prSet presAssocID="{FC40AB39-1DB8-4DED-B5CC-C45D1BB5E58A}" presName="compNode" presStyleCnt="0"/>
      <dgm:spPr/>
    </dgm:pt>
    <dgm:pt modelId="{6A66FB95-A364-478E-A2BB-ACD08BA8F192}" type="pres">
      <dgm:prSet presAssocID="{FC40AB39-1DB8-4DED-B5CC-C45D1BB5E58A}" presName="iconBgRect" presStyleLbl="bgShp" presStyleIdx="1" presStyleCnt="4"/>
      <dgm:spPr/>
    </dgm:pt>
    <dgm:pt modelId="{C04423E4-0463-42C3-9697-E254F4564B76}" type="pres">
      <dgm:prSet presAssocID="{FC40AB39-1DB8-4DED-B5CC-C45D1BB5E58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g boat"/>
        </a:ext>
      </dgm:extLst>
    </dgm:pt>
    <dgm:pt modelId="{2E829BC0-4730-4953-969B-A8A97044D668}" type="pres">
      <dgm:prSet presAssocID="{FC40AB39-1DB8-4DED-B5CC-C45D1BB5E58A}" presName="spaceRect" presStyleCnt="0"/>
      <dgm:spPr/>
    </dgm:pt>
    <dgm:pt modelId="{355EA610-21AA-4755-BA70-C957452F5F5F}" type="pres">
      <dgm:prSet presAssocID="{FC40AB39-1DB8-4DED-B5CC-C45D1BB5E58A}" presName="textRect" presStyleLbl="revTx" presStyleIdx="1" presStyleCnt="4">
        <dgm:presLayoutVars>
          <dgm:chMax val="1"/>
          <dgm:chPref val="1"/>
        </dgm:presLayoutVars>
      </dgm:prSet>
      <dgm:spPr/>
    </dgm:pt>
    <dgm:pt modelId="{02E0960B-5975-4846-992F-89B788E37A1E}" type="pres">
      <dgm:prSet presAssocID="{0A391432-7770-438B-91EA-8D15859576D9}" presName="sibTrans" presStyleCnt="0"/>
      <dgm:spPr/>
    </dgm:pt>
    <dgm:pt modelId="{A613C593-44AB-4AE1-8D69-A8B3F52297E4}" type="pres">
      <dgm:prSet presAssocID="{21B4DF14-DDE9-45AC-9B84-1D70D9E0DD84}" presName="compNode" presStyleCnt="0"/>
      <dgm:spPr/>
    </dgm:pt>
    <dgm:pt modelId="{2CB7E719-75B5-4333-96D2-66918000178C}" type="pres">
      <dgm:prSet presAssocID="{21B4DF14-DDE9-45AC-9B84-1D70D9E0DD84}" presName="iconBgRect" presStyleLbl="bgShp" presStyleIdx="2" presStyleCnt="4"/>
      <dgm:spPr/>
    </dgm:pt>
    <dgm:pt modelId="{2A6819B7-FA14-4E6C-855F-B82A762CD795}" type="pres">
      <dgm:prSet presAssocID="{21B4DF14-DDE9-45AC-9B84-1D70D9E0DD8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D0DB127E-A282-4344-A983-99469D6AA9F8}" type="pres">
      <dgm:prSet presAssocID="{21B4DF14-DDE9-45AC-9B84-1D70D9E0DD84}" presName="spaceRect" presStyleCnt="0"/>
      <dgm:spPr/>
    </dgm:pt>
    <dgm:pt modelId="{BF8AF1F3-64BD-443C-B7D5-599B98C0D3EA}" type="pres">
      <dgm:prSet presAssocID="{21B4DF14-DDE9-45AC-9B84-1D70D9E0DD84}" presName="textRect" presStyleLbl="revTx" presStyleIdx="2" presStyleCnt="4">
        <dgm:presLayoutVars>
          <dgm:chMax val="1"/>
          <dgm:chPref val="1"/>
        </dgm:presLayoutVars>
      </dgm:prSet>
      <dgm:spPr/>
    </dgm:pt>
    <dgm:pt modelId="{EB6488DF-B61D-4590-9F7A-025EFE303DBE}" type="pres">
      <dgm:prSet presAssocID="{A4C3C206-4F9D-4A38-B59C-38D2658EE026}" presName="sibTrans" presStyleCnt="0"/>
      <dgm:spPr/>
    </dgm:pt>
    <dgm:pt modelId="{4A5044DE-3770-4FF5-A505-6F9266C01971}" type="pres">
      <dgm:prSet presAssocID="{0705E08A-B5C9-4CA0-A2C8-8B7272DF1BAE}" presName="compNode" presStyleCnt="0"/>
      <dgm:spPr/>
    </dgm:pt>
    <dgm:pt modelId="{B5366E5B-5331-4B24-8C26-322C8A48484B}" type="pres">
      <dgm:prSet presAssocID="{0705E08A-B5C9-4CA0-A2C8-8B7272DF1BAE}" presName="iconBgRect" presStyleLbl="bgShp" presStyleIdx="3" presStyleCnt="4"/>
      <dgm:spPr/>
    </dgm:pt>
    <dgm:pt modelId="{84CE3B32-F3A3-4E47-B4B2-253CC67DEF5C}" type="pres">
      <dgm:prSet presAssocID="{0705E08A-B5C9-4CA0-A2C8-8B7272DF1BA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"/>
        </a:ext>
      </dgm:extLst>
    </dgm:pt>
    <dgm:pt modelId="{3B122AA7-DB2F-4EA0-AF4F-D4513B4312B9}" type="pres">
      <dgm:prSet presAssocID="{0705E08A-B5C9-4CA0-A2C8-8B7272DF1BAE}" presName="spaceRect" presStyleCnt="0"/>
      <dgm:spPr/>
    </dgm:pt>
    <dgm:pt modelId="{F9120B68-BBD8-4804-AC27-B2FB1E2B6F56}" type="pres">
      <dgm:prSet presAssocID="{0705E08A-B5C9-4CA0-A2C8-8B7272DF1BA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32C6A09-B5A8-404A-A970-8FBD0DA86481}" type="presOf" srcId="{21B4DF14-DDE9-45AC-9B84-1D70D9E0DD84}" destId="{BF8AF1F3-64BD-443C-B7D5-599B98C0D3EA}" srcOrd="0" destOrd="0" presId="urn:microsoft.com/office/officeart/2018/5/layout/IconCircleLabelList"/>
    <dgm:cxn modelId="{421ACA1E-9B25-4EAC-8C9F-CB60C442817B}" type="presOf" srcId="{A0712682-840A-4220-865E-BBC0F737FA66}" destId="{B8EFE088-EB1B-4B56-AAA4-6C48A7823C77}" srcOrd="0" destOrd="0" presId="urn:microsoft.com/office/officeart/2018/5/layout/IconCircleLabelList"/>
    <dgm:cxn modelId="{0BA58340-4C4E-4C0A-AD56-B58859F40159}" type="presOf" srcId="{0705E08A-B5C9-4CA0-A2C8-8B7272DF1BAE}" destId="{F9120B68-BBD8-4804-AC27-B2FB1E2B6F56}" srcOrd="0" destOrd="0" presId="urn:microsoft.com/office/officeart/2018/5/layout/IconCircleLabelList"/>
    <dgm:cxn modelId="{5AE27943-7E65-4A9D-84E1-8FCF4FF1BA82}" type="presOf" srcId="{409B2C46-810C-43FD-8345-B3E045288108}" destId="{04A11A2E-8AAF-4977-AA65-5290EC8A5A2C}" srcOrd="0" destOrd="0" presId="urn:microsoft.com/office/officeart/2018/5/layout/IconCircleLabelList"/>
    <dgm:cxn modelId="{38F79C66-F76F-4027-BB19-07301B2E2DEF}" srcId="{409B2C46-810C-43FD-8345-B3E045288108}" destId="{FC40AB39-1DB8-4DED-B5CC-C45D1BB5E58A}" srcOrd="1" destOrd="0" parTransId="{F2839003-0C37-49AF-9F1C-3107F48EE616}" sibTransId="{0A391432-7770-438B-91EA-8D15859576D9}"/>
    <dgm:cxn modelId="{AE6E7782-570C-428F-B807-4A244E128CEE}" srcId="{409B2C46-810C-43FD-8345-B3E045288108}" destId="{A0712682-840A-4220-865E-BBC0F737FA66}" srcOrd="0" destOrd="0" parTransId="{9AC21C42-0D00-4BC4-B4B2-B4F6527B82E3}" sibTransId="{9F65B317-1001-4AD1-A9F7-72DCB70BB7DB}"/>
    <dgm:cxn modelId="{6CFB8E86-853D-4D15-A1DE-511CCA4A4C3B}" srcId="{409B2C46-810C-43FD-8345-B3E045288108}" destId="{21B4DF14-DDE9-45AC-9B84-1D70D9E0DD84}" srcOrd="2" destOrd="0" parTransId="{24CC63B6-3585-4F56-8D3F-EC5AA7E87181}" sibTransId="{A4C3C206-4F9D-4A38-B59C-38D2658EE026}"/>
    <dgm:cxn modelId="{2B6E4B95-C5DD-458D-BC0B-1F6A4CA2B2F9}" type="presOf" srcId="{FC40AB39-1DB8-4DED-B5CC-C45D1BB5E58A}" destId="{355EA610-21AA-4755-BA70-C957452F5F5F}" srcOrd="0" destOrd="0" presId="urn:microsoft.com/office/officeart/2018/5/layout/IconCircleLabelList"/>
    <dgm:cxn modelId="{6B4C1FE7-11BD-464B-98F2-901F4AC79308}" srcId="{409B2C46-810C-43FD-8345-B3E045288108}" destId="{0705E08A-B5C9-4CA0-A2C8-8B7272DF1BAE}" srcOrd="3" destOrd="0" parTransId="{CF931BF1-0F02-41D2-8955-342068BF1684}" sibTransId="{D33BBF1C-DABC-49EA-A2E5-1396A7D33372}"/>
    <dgm:cxn modelId="{ADDBA52F-1196-4A71-A127-4B3373D4CE55}" type="presParOf" srcId="{04A11A2E-8AAF-4977-AA65-5290EC8A5A2C}" destId="{C94644E0-CC5A-4D43-8BDD-49EC975C3AAB}" srcOrd="0" destOrd="0" presId="urn:microsoft.com/office/officeart/2018/5/layout/IconCircleLabelList"/>
    <dgm:cxn modelId="{8ACF169E-961C-41AA-BF96-31FD360E613D}" type="presParOf" srcId="{C94644E0-CC5A-4D43-8BDD-49EC975C3AAB}" destId="{AD8A1EC0-85E3-4CCA-BD01-5F69184ADCFE}" srcOrd="0" destOrd="0" presId="urn:microsoft.com/office/officeart/2018/5/layout/IconCircleLabelList"/>
    <dgm:cxn modelId="{0A64BA1E-99DE-45AE-AAEE-DA6221EEE898}" type="presParOf" srcId="{C94644E0-CC5A-4D43-8BDD-49EC975C3AAB}" destId="{B1906E1D-1083-4B85-AAE9-78E578F2B477}" srcOrd="1" destOrd="0" presId="urn:microsoft.com/office/officeart/2018/5/layout/IconCircleLabelList"/>
    <dgm:cxn modelId="{524B664E-3EAC-428A-8447-016A1F90245E}" type="presParOf" srcId="{C94644E0-CC5A-4D43-8BDD-49EC975C3AAB}" destId="{F1BEE38A-FD35-451C-AC40-FFCB410D4320}" srcOrd="2" destOrd="0" presId="urn:microsoft.com/office/officeart/2018/5/layout/IconCircleLabelList"/>
    <dgm:cxn modelId="{BA230CA7-C975-4348-A273-0CE6CC1CFE5F}" type="presParOf" srcId="{C94644E0-CC5A-4D43-8BDD-49EC975C3AAB}" destId="{B8EFE088-EB1B-4B56-AAA4-6C48A7823C77}" srcOrd="3" destOrd="0" presId="urn:microsoft.com/office/officeart/2018/5/layout/IconCircleLabelList"/>
    <dgm:cxn modelId="{1A3067C1-290F-45DF-AD91-953250586247}" type="presParOf" srcId="{04A11A2E-8AAF-4977-AA65-5290EC8A5A2C}" destId="{2B7A3D04-B7F3-4D4F-8FD7-DB40444685B8}" srcOrd="1" destOrd="0" presId="urn:microsoft.com/office/officeart/2018/5/layout/IconCircleLabelList"/>
    <dgm:cxn modelId="{5E680A73-2A5B-45A9-B3FB-1F72030C17A5}" type="presParOf" srcId="{04A11A2E-8AAF-4977-AA65-5290EC8A5A2C}" destId="{C6C5D65B-7766-48A2-8A58-D3FB7BE3EB97}" srcOrd="2" destOrd="0" presId="urn:microsoft.com/office/officeart/2018/5/layout/IconCircleLabelList"/>
    <dgm:cxn modelId="{3C2A99E2-1E44-46E9-B3E2-41935C7442AB}" type="presParOf" srcId="{C6C5D65B-7766-48A2-8A58-D3FB7BE3EB97}" destId="{6A66FB95-A364-478E-A2BB-ACD08BA8F192}" srcOrd="0" destOrd="0" presId="urn:microsoft.com/office/officeart/2018/5/layout/IconCircleLabelList"/>
    <dgm:cxn modelId="{017EF85C-F4F9-4A3B-8EA6-E85CD232F0D6}" type="presParOf" srcId="{C6C5D65B-7766-48A2-8A58-D3FB7BE3EB97}" destId="{C04423E4-0463-42C3-9697-E254F4564B76}" srcOrd="1" destOrd="0" presId="urn:microsoft.com/office/officeart/2018/5/layout/IconCircleLabelList"/>
    <dgm:cxn modelId="{5C616D65-ED1B-4B17-AB62-98AE55906A74}" type="presParOf" srcId="{C6C5D65B-7766-48A2-8A58-D3FB7BE3EB97}" destId="{2E829BC0-4730-4953-969B-A8A97044D668}" srcOrd="2" destOrd="0" presId="urn:microsoft.com/office/officeart/2018/5/layout/IconCircleLabelList"/>
    <dgm:cxn modelId="{516A4DA4-5DA8-44C2-8254-164D4A6F6ACF}" type="presParOf" srcId="{C6C5D65B-7766-48A2-8A58-D3FB7BE3EB97}" destId="{355EA610-21AA-4755-BA70-C957452F5F5F}" srcOrd="3" destOrd="0" presId="urn:microsoft.com/office/officeart/2018/5/layout/IconCircleLabelList"/>
    <dgm:cxn modelId="{23F6A549-4010-4900-B4E4-3A10300803D0}" type="presParOf" srcId="{04A11A2E-8AAF-4977-AA65-5290EC8A5A2C}" destId="{02E0960B-5975-4846-992F-89B788E37A1E}" srcOrd="3" destOrd="0" presId="urn:microsoft.com/office/officeart/2018/5/layout/IconCircleLabelList"/>
    <dgm:cxn modelId="{67D1926F-341F-4766-A098-1A83B5BF86E6}" type="presParOf" srcId="{04A11A2E-8AAF-4977-AA65-5290EC8A5A2C}" destId="{A613C593-44AB-4AE1-8D69-A8B3F52297E4}" srcOrd="4" destOrd="0" presId="urn:microsoft.com/office/officeart/2018/5/layout/IconCircleLabelList"/>
    <dgm:cxn modelId="{9B40A59B-E955-4198-AD78-80E11A5B6796}" type="presParOf" srcId="{A613C593-44AB-4AE1-8D69-A8B3F52297E4}" destId="{2CB7E719-75B5-4333-96D2-66918000178C}" srcOrd="0" destOrd="0" presId="urn:microsoft.com/office/officeart/2018/5/layout/IconCircleLabelList"/>
    <dgm:cxn modelId="{CB877E8C-99F5-4B23-99FC-1A929C8D527F}" type="presParOf" srcId="{A613C593-44AB-4AE1-8D69-A8B3F52297E4}" destId="{2A6819B7-FA14-4E6C-855F-B82A762CD795}" srcOrd="1" destOrd="0" presId="urn:microsoft.com/office/officeart/2018/5/layout/IconCircleLabelList"/>
    <dgm:cxn modelId="{D753880B-2804-4905-A5B0-25F0649A1616}" type="presParOf" srcId="{A613C593-44AB-4AE1-8D69-A8B3F52297E4}" destId="{D0DB127E-A282-4344-A983-99469D6AA9F8}" srcOrd="2" destOrd="0" presId="urn:microsoft.com/office/officeart/2018/5/layout/IconCircleLabelList"/>
    <dgm:cxn modelId="{E772B10A-ED88-4ABA-B166-7D32333693A6}" type="presParOf" srcId="{A613C593-44AB-4AE1-8D69-A8B3F52297E4}" destId="{BF8AF1F3-64BD-443C-B7D5-599B98C0D3EA}" srcOrd="3" destOrd="0" presId="urn:microsoft.com/office/officeart/2018/5/layout/IconCircleLabelList"/>
    <dgm:cxn modelId="{3EFE01D4-1FEE-4CA9-940C-A1D4AC1C89AC}" type="presParOf" srcId="{04A11A2E-8AAF-4977-AA65-5290EC8A5A2C}" destId="{EB6488DF-B61D-4590-9F7A-025EFE303DBE}" srcOrd="5" destOrd="0" presId="urn:microsoft.com/office/officeart/2018/5/layout/IconCircleLabelList"/>
    <dgm:cxn modelId="{48E06C34-06FB-4ACA-B838-7E16FF76D108}" type="presParOf" srcId="{04A11A2E-8AAF-4977-AA65-5290EC8A5A2C}" destId="{4A5044DE-3770-4FF5-A505-6F9266C01971}" srcOrd="6" destOrd="0" presId="urn:microsoft.com/office/officeart/2018/5/layout/IconCircleLabelList"/>
    <dgm:cxn modelId="{C342DF29-50E7-4166-B1C0-4B544BE6D258}" type="presParOf" srcId="{4A5044DE-3770-4FF5-A505-6F9266C01971}" destId="{B5366E5B-5331-4B24-8C26-322C8A48484B}" srcOrd="0" destOrd="0" presId="urn:microsoft.com/office/officeart/2018/5/layout/IconCircleLabelList"/>
    <dgm:cxn modelId="{A714BA5C-D98A-4FD6-B1F4-44CB74522482}" type="presParOf" srcId="{4A5044DE-3770-4FF5-A505-6F9266C01971}" destId="{84CE3B32-F3A3-4E47-B4B2-253CC67DEF5C}" srcOrd="1" destOrd="0" presId="urn:microsoft.com/office/officeart/2018/5/layout/IconCircleLabelList"/>
    <dgm:cxn modelId="{043CEF4C-73EC-4EEA-8CB4-4F00ABB1DC49}" type="presParOf" srcId="{4A5044DE-3770-4FF5-A505-6F9266C01971}" destId="{3B122AA7-DB2F-4EA0-AF4F-D4513B4312B9}" srcOrd="2" destOrd="0" presId="urn:microsoft.com/office/officeart/2018/5/layout/IconCircleLabelList"/>
    <dgm:cxn modelId="{48E0BD01-8219-40AC-ADFA-B9449D402245}" type="presParOf" srcId="{4A5044DE-3770-4FF5-A505-6F9266C01971}" destId="{F9120B68-BBD8-4804-AC27-B2FB1E2B6F56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8A1EC0-85E3-4CCA-BD01-5F69184ADCFE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906E1D-1083-4B85-AAE9-78E578F2B477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EFE088-EB1B-4B56-AAA4-6C48A7823C77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Total Revenue: $4,839,425.16</a:t>
          </a:r>
        </a:p>
      </dsp:txBody>
      <dsp:txXfrm>
        <a:off x="2092" y="2524067"/>
        <a:ext cx="1741992" cy="696796"/>
      </dsp:txXfrm>
    </dsp:sp>
    <dsp:sp modelId="{6A66FB95-A364-478E-A2BB-ACD08BA8F192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4423E4-0463-42C3-9697-E254F4564B76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EA610-21AA-4755-BA70-C957452F5F5F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Total Orders: 8,042</a:t>
          </a:r>
        </a:p>
      </dsp:txBody>
      <dsp:txXfrm>
        <a:off x="2048933" y="2524067"/>
        <a:ext cx="1741992" cy="696796"/>
      </dsp:txXfrm>
    </dsp:sp>
    <dsp:sp modelId="{2CB7E719-75B5-4333-96D2-66918000178C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819B7-FA14-4E6C-855F-B82A762CD795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8AF1F3-64BD-443C-B7D5-599B98C0D3EA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Top Performing Category: Electronics ($1.93M Revenue)</a:t>
          </a:r>
        </a:p>
      </dsp:txBody>
      <dsp:txXfrm>
        <a:off x="4095774" y="2524067"/>
        <a:ext cx="1741992" cy="696796"/>
      </dsp:txXfrm>
    </dsp:sp>
    <dsp:sp modelId="{B5366E5B-5331-4B24-8C26-322C8A48484B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CE3B32-F3A3-4E47-B4B2-253CC67DEF5C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120B68-BBD8-4804-AC27-B2FB1E2B6F56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- Primary Growth Driver: Strategic promotional spikes.</a:t>
          </a:r>
        </a:p>
      </dsp:txBody>
      <dsp:txXfrm>
        <a:off x="6142615" y="2524067"/>
        <a:ext cx="1741992" cy="69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9144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41640" y="-1720"/>
            <a:ext cx="881253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54540" y="-1291"/>
            <a:ext cx="2706134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3923854" y="1402819"/>
            <a:ext cx="4967533" cy="3741293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0148" y="818984"/>
            <a:ext cx="4947184" cy="3268520"/>
          </a:xfrm>
        </p:spPr>
        <p:txBody>
          <a:bodyPr>
            <a:normAutofit/>
          </a:bodyPr>
          <a:lstStyle/>
          <a:p>
            <a:pPr algn="r"/>
            <a:r>
              <a:rPr lang="en-US" sz="4200">
                <a:solidFill>
                  <a:srgbClr val="FFFFFF"/>
                </a:solidFill>
              </a:rPr>
              <a:t>AI-Augmented Business Analysis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735" y="4480038"/>
            <a:ext cx="9134528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8905" y="4797188"/>
            <a:ext cx="4538427" cy="1241828"/>
          </a:xfrm>
        </p:spPr>
        <p:txBody>
          <a:bodyPr>
            <a:normAutofit/>
          </a:bodyPr>
          <a:lstStyle/>
          <a:p>
            <a:pPr algn="r"/>
            <a:r>
              <a:rPr lang="en-US" sz="3000">
                <a:solidFill>
                  <a:srgbClr val="FFFFFF"/>
                </a:solidFill>
              </a:rPr>
              <a:t>Sonia Mannepuli | Analytics Workflow Project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368117" y="2081692"/>
            <a:ext cx="6857572" cy="269419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A67CD3-AB4E-4A7A-BEB8-53C445D8C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60045"/>
            <a:ext cx="4694659" cy="573405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CF545F-9C2E-4446-97CD-AD92990C2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99"/>
          <a:stretch/>
        </p:blipFill>
        <p:spPr>
          <a:xfrm>
            <a:off x="-1" y="857250"/>
            <a:ext cx="9144001" cy="57340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0578" y="1257300"/>
            <a:ext cx="3988849" cy="1381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000000"/>
                </a:solidFill>
              </a:rPr>
              <a:t>Executive Overview</a:t>
            </a:r>
          </a:p>
        </p:txBody>
      </p:sp>
      <p:sp>
        <p:nvSpPr>
          <p:cNvPr id="14" name="Freeform 62">
            <a:extLst>
              <a:ext uri="{FF2B5EF4-FFF2-40B4-BE49-F238E27FC236}">
                <a16:creationId xmlns:a16="http://schemas.microsoft.com/office/drawing/2014/main" id="{339C8D78-A644-462F-B674-F440635E5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525" y="1468363"/>
            <a:ext cx="4180922" cy="4515805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5000"/>
                  </a:schemeClr>
                </a:gs>
                <a:gs pos="100000">
                  <a:schemeClr val="bg2">
                    <a:lumMod val="8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7" name="Graphic 6" descr="Robot">
            <a:extLst>
              <a:ext uri="{FF2B5EF4-FFF2-40B4-BE49-F238E27FC236}">
                <a16:creationId xmlns:a16="http://schemas.microsoft.com/office/drawing/2014/main" id="{52F5A753-896D-D69D-8D6B-045216D844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490" y="2079067"/>
            <a:ext cx="3026740" cy="302674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0579" y="2947260"/>
            <a:ext cx="4003614" cy="2927188"/>
          </a:xfrm>
        </p:spPr>
        <p:txBody>
          <a:bodyPr anchor="ctr">
            <a:normAutofit/>
          </a:bodyPr>
          <a:lstStyle/>
          <a:p>
            <a:r>
              <a:rPr lang="en-US" sz="1500">
                <a:solidFill>
                  <a:srgbClr val="000000"/>
                </a:solidFill>
              </a:rPr>
              <a:t>- Objective: Bridge manual analytics with AI-driven insights.</a:t>
            </a:r>
          </a:p>
          <a:p>
            <a:r>
              <a:rPr lang="en-US" sz="1500">
                <a:solidFill>
                  <a:srgbClr val="000000"/>
                </a:solidFill>
              </a:rPr>
              <a:t>- Scope: SQL extraction, Python EDA, Excel reporting, AI evaluation.</a:t>
            </a:r>
          </a:p>
          <a:p>
            <a:r>
              <a:rPr lang="en-US" sz="1500">
                <a:solidFill>
                  <a:srgbClr val="000000"/>
                </a:solidFill>
              </a:rPr>
              <a:t>- Outcome: Actionable recommendations for business growth.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59863"/>
            <a:ext cx="7886700" cy="100459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Key Performance Metrics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4622" y="1587970"/>
            <a:ext cx="8274756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29AEC17A-3C3E-1FB5-C62C-36F09C72C4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4423606"/>
              </p:ext>
            </p:extLst>
          </p:nvPr>
        </p:nvGraphicFramePr>
        <p:xfrm>
          <a:off x="628650" y="1800911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AI-Driven Strategic Insights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500"/>
              <a:t>- Cross-sell Electronics to high-frequency Clothing purchasers.</a:t>
            </a:r>
          </a:p>
          <a:p>
            <a:pPr>
              <a:lnSpc>
                <a:spcPct val="90000"/>
              </a:lnSpc>
            </a:pPr>
            <a:r>
              <a:rPr lang="en-US" sz="2500"/>
              <a:t>- Launch exclusive loyalty tiers for 'Gold' (high-spend) users.</a:t>
            </a:r>
          </a:p>
          <a:p>
            <a:pPr>
              <a:lnSpc>
                <a:spcPct val="90000"/>
              </a:lnSpc>
            </a:pPr>
            <a:r>
              <a:rPr lang="en-US" sz="2500"/>
              <a:t>- Reallocate marketing spend from Books/Groceries to Electronics.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1011045"/>
            <a:ext cx="3277394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7619" y="1112969"/>
            <a:ext cx="2952974" cy="416601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AI vs. Manual Analysis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000"/>
              <a:t>- Manual: Strong on descriptive data integrity.</a:t>
            </a:r>
          </a:p>
          <a:p>
            <a:pPr>
              <a:lnSpc>
                <a:spcPct val="90000"/>
              </a:lnSpc>
            </a:pPr>
            <a:r>
              <a:rPr lang="en-US" sz="3000"/>
              <a:t>- AI: Excellent at prescriptive 'so what' strategy generation.</a:t>
            </a:r>
          </a:p>
          <a:p>
            <a:pPr>
              <a:lnSpc>
                <a:spcPct val="90000"/>
              </a:lnSpc>
            </a:pPr>
            <a:r>
              <a:rPr lang="en-US" sz="3000"/>
              <a:t>- Synergy: AI accelerates speed; human oversight ensures strategic alignment.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152</Words>
  <Application>Microsoft Office PowerPoint</Application>
  <PresentationFormat>On-screen Show (4:3)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AI-Augmented Business Analysis</vt:lpstr>
      <vt:lpstr>Executive Overview</vt:lpstr>
      <vt:lpstr>Key Performance Metrics</vt:lpstr>
      <vt:lpstr>AI-Driven Strategic Insights</vt:lpstr>
      <vt:lpstr>AI vs. Manual Analysis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Soniamannepuli</dc:creator>
  <cp:keywords/>
  <dc:description>generated using python-pptx</dc:description>
  <cp:lastModifiedBy>Sonia Mannepuli</cp:lastModifiedBy>
  <cp:revision>2</cp:revision>
  <dcterms:created xsi:type="dcterms:W3CDTF">2013-01-27T09:14:16Z</dcterms:created>
  <dcterms:modified xsi:type="dcterms:W3CDTF">2026-07-03T15:15:34Z</dcterms:modified>
  <cp:category/>
</cp:coreProperties>
</file>